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Merriweather"/>
      <p:regular r:id="rId21"/>
      <p:bold r:id="rId22"/>
      <p:italic r:id="rId23"/>
      <p:boldItalic r:id="rId24"/>
    </p:embeddedFont>
    <p:embeddedFont>
      <p:font typeface="DM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BA8F47-F038-4EFA-84C3-BD3DFE9A55F4}">
  <a:tblStyle styleId="{CCBA8F47-F038-4EFA-84C3-BD3DFE9A55F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erriweather-bold.fntdata"/><Relationship Id="rId21" Type="http://schemas.openxmlformats.org/officeDocument/2006/relationships/font" Target="fonts/Merriweather-regular.fntdata"/><Relationship Id="rId24" Type="http://schemas.openxmlformats.org/officeDocument/2006/relationships/font" Target="fonts/Merriweather-boldItalic.fntdata"/><Relationship Id="rId23" Type="http://schemas.openxmlformats.org/officeDocument/2006/relationships/font" Target="fonts/Merriweath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0a0a8ba7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f0a0a8ba7e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0a0a8ba7e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0a0a8ba7e_0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0a0a8ba7e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f0a0a8ba7e_0_3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0a0a8ba7e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f0a0a8ba7e_0_2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9" Type="http://schemas.openxmlformats.org/officeDocument/2006/relationships/image" Target="../media/image17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766887"/>
            <a:ext cx="1160145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3F0DF"/>
                </a:solidFill>
                <a:latin typeface="Arial"/>
                <a:ea typeface="Arial"/>
                <a:cs typeface="Arial"/>
                <a:sym typeface="Arial"/>
              </a:rPr>
              <a:t>RF-DETR: Real-Time Detection Transformers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971675" y="3424237"/>
            <a:ext cx="8248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3F0DF"/>
                </a:solidFill>
                <a:latin typeface="Arial"/>
                <a:ea typeface="Arial"/>
                <a:cs typeface="Arial"/>
                <a:sym typeface="Arial"/>
              </a:rPr>
              <a:t>Neural Architecture Search for Efficient Object Detection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805362" y="4567237"/>
            <a:ext cx="25812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Isaac Robinson et al.,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2625"/>
            <a:ext cx="3492549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52625"/>
            <a:ext cx="3492549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52625"/>
            <a:ext cx="3492549" cy="38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66775" y="28860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CNN Legacy (YOLO)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3438525"/>
            <a:ext cx="2901999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Highly efficient for real-time edge deployment. However, limited global context modeling due to local receptive fields of convolutions.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645074" y="28860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DETR Transformers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45074" y="3438525"/>
            <a:ext cx="2901999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Superior global reasoning and end-to-end detection. Historically too slow for real-time applications until the advent of RT-DETR and RF-DETR.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23374" y="28860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23374" y="3438525"/>
            <a:ext cx="2901999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Finding the optimal balance between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Mean Average Precision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Latency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across diverse hardware and datasets.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2955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2955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2955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The Real-Time Detection Dilemma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1971675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Robinson et al. (2025) introduced RF-DETR to address the gap in lightweight transformer architectures.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81050" y="312420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57250" y="3124200"/>
            <a:ext cx="10763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Method: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Weight-sharing Neural Architecture Search (NAS).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81050" y="384810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57250" y="3848100"/>
            <a:ext cx="10763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Performance: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First real-time detector to exceed 60 AP on COCO.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81050" y="457200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57250" y="4572000"/>
            <a:ext cx="10763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Backbone: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Built on high-performance DINOv2 Vision Transformers.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81050" y="529590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57250" y="5295900"/>
            <a:ext cx="10763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Adaptability: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Thousands of sub-network configurations discovered without re-training.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Specialist Detection Transformers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0668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5074443"/>
            <a:ext cx="2190750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540668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6334125" y="1540668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Tunable Architecture Knobs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334125" y="2093118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RF-DETR exposes a set of "knobs" that can be adjusted to find Pareto-optimal points: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543675" y="2931318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619875" y="2931318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Input Resolution: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320 to 960 pixels.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543675" y="3340893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619875" y="3340893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Patch Size: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8, 10, 12, 14, 16, etc.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543675" y="3750468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619875" y="3750468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Decoder Layers: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0 to 6 blocks.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543675" y="4160043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619875" y="4160043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Query Tokens: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50 to 300 queries.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543675" y="4569618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619875" y="4569618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Attention: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Windowed vs. Global modes.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438900" y="5331618"/>
            <a:ext cx="198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Primary Metric: mAP@50:95</a:t>
            </a:r>
            <a:endParaRPr/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38900" y="5607843"/>
            <a:ext cx="1793081" cy="43338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Innovation: Weight-Sharing NAS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1725"/>
            <a:ext cx="3492549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71725"/>
            <a:ext cx="3492549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71725"/>
            <a:ext cx="3492549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866775" y="2667000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Nano / Small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66775" y="3219450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Optimized for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NVIDIA Jetson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and edge devices. High speed, minimal footprint.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66775" y="4371975"/>
            <a:ext cx="29019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48.4 - 53.0 AP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4645074" y="2667000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Medium / Large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4645074" y="3219450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standard balance for server-side real-time processing on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T4/L4 GPUs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4645074" y="4371975"/>
            <a:ext cx="29019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54.7 - 56.5 AP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423374" y="2667000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XL / 2XLarge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423374" y="3219450"/>
            <a:ext cx="2901999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State-of-the-art accuracy, outperforming GroundingDINO while remaining real-time.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423374" y="4686300"/>
            <a:ext cx="29019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58.6 - 60.1 AP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RF-DETR Model Lineup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1500" y="1985962"/>
            <a:ext cx="555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Small vs. Large Comparison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2538400"/>
            <a:ext cx="47532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 Part 1 of the lab, we replicate the paper's results by testing different decoder depths: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4900600"/>
            <a:ext cx="48219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Large model picks up crowded groups more effectively than Small/Base.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81050" y="3376612"/>
            <a:ext cx="76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857250" y="3376600"/>
            <a:ext cx="4536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RF-DETR-Small: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32.1M params. Optimized for speed, identifies primary subjects quickly.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81050" y="4100512"/>
            <a:ext cx="76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57250" y="4100500"/>
            <a:ext cx="46281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RF-DETR-Large: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33.9M params. More accurate, detects more people at higher confidence levels.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571500" y="571500"/>
            <a:ext cx="116016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Lab Activity: Inference Demo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571500" y="1190625"/>
            <a:ext cx="11049000" cy="19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7300" y="2065675"/>
            <a:ext cx="6151076" cy="365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00312"/>
            <a:ext cx="5286375" cy="28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571500" y="2500312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Implementation Logic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571500" y="2909887"/>
            <a:ext cx="5286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We instantiate two distinct scales to demonstrate the trade-off. The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Small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model uses fewer decoder layers for speed, while the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Large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model leverages depth for precision.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571500" y="3957637"/>
            <a:ext cx="5286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The .predict() method handles the entire pipeline: image pre-processing, forward pass, and bounding-box decoding.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Lab Part 1: Model Initialization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571500" y="1190625"/>
            <a:ext cx="11049000" cy="19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09825"/>
            <a:ext cx="5286375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571500" y="221932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Replicating SOTA Numbers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71500" y="2771775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Part 2 involves evaluating the pre-trained family on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MS COCO val2017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629400" y="2705100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Performance Benchmark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629400" y="4572000"/>
            <a:ext cx="46958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MS COCO AP50:95 Values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781050" y="360997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857250" y="3609975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Utilizing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pycocotools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for standard metrics.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781050" y="401955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857250" y="4019550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Hardware: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NVIDIA T4 GPU (GCP/Colab).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781050" y="442912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857250" y="4429125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Software: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CUDA 12.4 + TensorRT 10.4.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781050" y="483870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857250" y="4838700"/>
            <a:ext cx="5000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Verify that accuracy and latency match reported author values.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Lab Activity: COCO Benchmarking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76525"/>
            <a:ext cx="5286375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6334125" y="2676525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Validation Methodology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648450" y="304800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715125" y="3048000"/>
            <a:ext cx="4905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Threshold: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Set to 0.001 to ensure all potential boxes are considered for mAP calculation.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648450" y="361950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715125" y="3619500"/>
            <a:ext cx="490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COCOeval: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Uses standard </a:t>
            </a:r>
            <a:r>
              <a:rPr b="0" i="1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Intersection over Union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(IoU) metrics to calculate precision and recall across multiple scales.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648450" y="447675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715125" y="4476750"/>
            <a:ext cx="4905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Latency: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Measured using TensorRT FP16 on T4 GPUs to ensure real-time validity.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Lab Part 2: COCO Benchmarking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571500" y="1190625"/>
            <a:ext cx="11049000" cy="19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/>
          <p:nvPr/>
        </p:nvSpPr>
        <p:spPr>
          <a:xfrm>
            <a:off x="571500" y="1771650"/>
            <a:ext cx="11049000" cy="36671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3" name="Google Shape;233;p22"/>
          <p:cNvGraphicFramePr/>
          <p:nvPr/>
        </p:nvGraphicFramePr>
        <p:xfrm>
          <a:off x="571500" y="1771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{CCBA8F47-F038-4EFA-84C3-BD3DFE9A55F4}</a:tableStyleId>
              </a:tblPr>
              <a:tblGrid>
                <a:gridCol w="2440175"/>
                <a:gridCol w="2711350"/>
                <a:gridCol w="2182575"/>
                <a:gridCol w="1925100"/>
                <a:gridCol w="1789800"/>
              </a:tblGrid>
              <a:tr h="5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 Variant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COCO AP (50:95)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Latency (ms)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Params (M)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Resolution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RF-DETR-Nano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48.4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384x384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RF-DETR-Small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512x512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RF-DETR-Medium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54.7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33.7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576x576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RF-DETR-Large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33.9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704x704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RF-DETR-XLarge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58.6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126.4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700x700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RF-DETR-2XL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126.9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880x880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</a:tr>
            </a:tbl>
          </a:graphicData>
        </a:graphic>
      </p:graphicFrame>
      <p:sp>
        <p:nvSpPr>
          <p:cNvPr id="234" name="Google Shape;234;p22"/>
          <p:cNvSpPr txBox="1"/>
          <p:nvPr/>
        </p:nvSpPr>
        <p:spPr>
          <a:xfrm>
            <a:off x="571500" y="5629275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*Latency measured on NVIDIA T4 using TensorRT FP16, batch=1.</a:t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571500" y="2814637"/>
            <a:ext cx="24401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3011685" y="2814637"/>
            <a:ext cx="2711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723036" y="2814637"/>
            <a:ext cx="2182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7905601" y="2814637"/>
            <a:ext cx="19250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9830692" y="2814637"/>
            <a:ext cx="17898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571500" y="3338512"/>
            <a:ext cx="24401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3011685" y="3338512"/>
            <a:ext cx="2711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23036" y="3338512"/>
            <a:ext cx="2182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7905601" y="3338512"/>
            <a:ext cx="19250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9830692" y="3338512"/>
            <a:ext cx="17898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571500" y="3862387"/>
            <a:ext cx="24401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3011685" y="3862387"/>
            <a:ext cx="2711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723036" y="3862387"/>
            <a:ext cx="2182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7905601" y="3862387"/>
            <a:ext cx="19250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9830692" y="3862387"/>
            <a:ext cx="17898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571500" y="4386262"/>
            <a:ext cx="24401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3011685" y="4386262"/>
            <a:ext cx="2711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723036" y="4386262"/>
            <a:ext cx="2182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7905601" y="4386262"/>
            <a:ext cx="19250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9830692" y="4386262"/>
            <a:ext cx="17898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571500" y="4910137"/>
            <a:ext cx="24401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3011685" y="4910137"/>
            <a:ext cx="2711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5723036" y="4910137"/>
            <a:ext cx="2182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7905601" y="4910137"/>
            <a:ext cx="19250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9830692" y="4910137"/>
            <a:ext cx="17898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Performance Summary Table</a:t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/>
          <p:nvPr/>
        </p:nvSpPr>
        <p:spPr>
          <a:xfrm>
            <a:off x="571500" y="2814637"/>
            <a:ext cx="2440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3011685" y="2814637"/>
            <a:ext cx="271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5723036" y="2814637"/>
            <a:ext cx="218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7905601" y="2814637"/>
            <a:ext cx="1925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9830692" y="2814637"/>
            <a:ext cx="1789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571500" y="3338512"/>
            <a:ext cx="2440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3011685" y="3338512"/>
            <a:ext cx="271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5723036" y="3338512"/>
            <a:ext cx="218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7905601" y="3338512"/>
            <a:ext cx="1925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9830692" y="3338512"/>
            <a:ext cx="1789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571500" y="3862387"/>
            <a:ext cx="2440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3011685" y="3862387"/>
            <a:ext cx="271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723036" y="3862387"/>
            <a:ext cx="218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7905601" y="3862387"/>
            <a:ext cx="1925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9830692" y="3862387"/>
            <a:ext cx="1789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571500" y="4386262"/>
            <a:ext cx="2440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3011685" y="4386262"/>
            <a:ext cx="271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5723036" y="4386262"/>
            <a:ext cx="218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7905601" y="4386262"/>
            <a:ext cx="1925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9830692" y="4386262"/>
            <a:ext cx="1789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571500" y="4910137"/>
            <a:ext cx="2440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3011685" y="4910137"/>
            <a:ext cx="271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5723036" y="4910137"/>
            <a:ext cx="218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7905601" y="4910137"/>
            <a:ext cx="1925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9830692" y="4910137"/>
            <a:ext cx="1789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3"/>
          <p:cNvSpPr txBox="1"/>
          <p:nvPr/>
        </p:nvSpPr>
        <p:spPr>
          <a:xfrm>
            <a:off x="571500" y="571500"/>
            <a:ext cx="1160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3"/>
          <p:cNvSpPr/>
          <p:nvPr/>
        </p:nvSpPr>
        <p:spPr>
          <a:xfrm>
            <a:off x="571500" y="1190625"/>
            <a:ext cx="11049000" cy="19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499" y="1429700"/>
            <a:ext cx="11049001" cy="48749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pic>
      <p:sp>
        <p:nvSpPr>
          <p:cNvPr id="295" name="Google Shape;295;p23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05088"/>
                </a:solidFill>
              </a:rPr>
              <a:t>COCO Benchmark Evaluation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0" name="Google Shape;3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700337"/>
            <a:ext cx="5286375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4"/>
          <p:cNvSpPr txBox="1"/>
          <p:nvPr/>
        </p:nvSpPr>
        <p:spPr>
          <a:xfrm>
            <a:off x="571500" y="2700337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Machine-Readable Records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571500" y="3109912"/>
            <a:ext cx="5286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Using the dtreg package, we map our Python results to semantic objects. This prevents scientific findings from being "buried" in static PDFs.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571500" y="4157662"/>
            <a:ext cx="5286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The to_jsonld() function serializes our benchmarks into a graph that AI search engines can ingest directly.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Lab Part 3: Knowledge Packaging</a:t>
            </a:r>
            <a:endParaRPr/>
          </a:p>
        </p:txBody>
      </p:sp>
      <p:sp>
        <p:nvSpPr>
          <p:cNvPr id="306" name="Google Shape;306;p24"/>
          <p:cNvSpPr/>
          <p:nvPr/>
        </p:nvSpPr>
        <p:spPr>
          <a:xfrm>
            <a:off x="571500" y="1190625"/>
            <a:ext cx="11049000" cy="19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28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571500" y="1985962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"Born Reusable" Research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571500" y="2538400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lab work concludes with semantic data extraction for the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TIB Knowledge Loom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781050" y="3376612"/>
            <a:ext cx="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571500" y="3002050"/>
            <a:ext cx="500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Metadata: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JSON-LD (RO-Crate) format.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571500" y="3376600"/>
            <a:ext cx="10763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Integration: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Interlinking findings with the Open Research Knowledge Graph (ORKG).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781050" y="4510087"/>
            <a:ext cx="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571500" y="3795688"/>
            <a:ext cx="10763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Machine-Readable: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Findings are encoded so AI systems can reuse them without manual extraction.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TIB Knowledge Loom Integration</a:t>
            </a:r>
            <a:endParaRPr/>
          </a:p>
        </p:txBody>
      </p:sp>
      <p:sp>
        <p:nvSpPr>
          <p:cNvPr id="320" name="Google Shape;320;p25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5" name="Google Shape;32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6"/>
          <p:cNvSpPr txBox="1"/>
          <p:nvPr/>
        </p:nvSpPr>
        <p:spPr>
          <a:xfrm>
            <a:off x="295275" y="1519237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571500" y="2938462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Analysis of </a:t>
            </a:r>
            <a:r>
              <a:rPr b="0" i="1" lang="en-US" sz="2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RF-DETR: Neural Architecture Search for Real-Time Detection Transformers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571500" y="4291012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GitHub: roboflow/rf-detr</a:t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571500" y="481488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TIB Knowledge Loom: knowledgeloom.tib.eu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